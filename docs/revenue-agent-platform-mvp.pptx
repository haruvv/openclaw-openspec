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10f6dd574849b0" /><Relationship Type="http://schemas.openxmlformats.org/officeDocument/2006/relationships/extended-properties" Target="/docProps/app.xml" Id="Rf0f323ee93b84c2b" /><Relationship Type="http://schemas.openxmlformats.org/officeDocument/2006/relationships/officeDocument" Target="/ppt/presentation.xml" Id="Re493fe36ceb9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73d0bbd2614175"/>
  </p:sldMasterIdLst>
  <p:notesMasterIdLst>
    <p:notesMasterId xmlns:r="http://schemas.openxmlformats.org/officeDocument/2006/relationships" r:id="R7001b952ac6f44b5"/>
  </p:notesMasterIdLst>
  <p:sldIdLst>
    <p:sldId xmlns:r="http://schemas.openxmlformats.org/officeDocument/2006/relationships" id="256" r:id="Rd3101f4988654897"/>
    <p:sldId xmlns:r="http://schemas.openxmlformats.org/officeDocument/2006/relationships" id="257" r:id="R3c7342428f8d4ad5"/>
    <p:sldId xmlns:r="http://schemas.openxmlformats.org/officeDocument/2006/relationships" id="258" r:id="R861eb1fac7a044ab"/>
    <p:sldId xmlns:r="http://schemas.openxmlformats.org/officeDocument/2006/relationships" id="259" r:id="R40ebe0adeb9d4386"/>
    <p:sldId xmlns:r="http://schemas.openxmlformats.org/officeDocument/2006/relationships" id="260" r:id="R25fc88f871fc4118"/>
    <p:sldId xmlns:r="http://schemas.openxmlformats.org/officeDocument/2006/relationships" id="261" r:id="R947e39ebf07347ae"/>
    <p:sldId xmlns:r="http://schemas.openxmlformats.org/officeDocument/2006/relationships" id="262" r:id="R9da0b424e34d41d4"/>
    <p:sldId xmlns:r="http://schemas.openxmlformats.org/officeDocument/2006/relationships" id="263" r:id="R17e93c62eddc4c96"/>
    <p:sldId xmlns:r="http://schemas.openxmlformats.org/officeDocument/2006/relationships" id="264" r:id="Rf17ce4fc85d94e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3d0bbd2614175" /><Relationship Type="http://schemas.openxmlformats.org/officeDocument/2006/relationships/theme" Target="/ppt/theme/theme1.xml" Id="Rf506b47117514825" /><Relationship Type="http://schemas.openxmlformats.org/officeDocument/2006/relationships/notesMaster" Target="/ppt/notesMasters/notesMaster1.xml" Id="R7001b952ac6f44b5" /><Relationship Type="http://schemas.openxmlformats.org/officeDocument/2006/relationships/presProps" Target="/ppt/presProps.xml" Id="R80d4e4f609ef4a3d" /><Relationship Type="http://schemas.openxmlformats.org/officeDocument/2006/relationships/viewProps" Target="/ppt/viewProps.xml" Id="R4f02f1b3f01e46f3" /><Relationship Type="http://schemas.openxmlformats.org/officeDocument/2006/relationships/tableStyles" Target="/ppt/tableStyles.xml" Id="Rb92643a73fcd4b2a" /><Relationship Type="http://schemas.openxmlformats.org/officeDocument/2006/relationships/slide" Target="/ppt/slides/slide1.xml" Id="Rd3101f4988654897" /><Relationship Type="http://schemas.openxmlformats.org/officeDocument/2006/relationships/slide" Target="/ppt/slides/slide2.xml" Id="R3c7342428f8d4ad5" /><Relationship Type="http://schemas.openxmlformats.org/officeDocument/2006/relationships/slide" Target="/ppt/slides/slide3.xml" Id="R861eb1fac7a044ab" /><Relationship Type="http://schemas.openxmlformats.org/officeDocument/2006/relationships/slide" Target="/ppt/slides/slide4.xml" Id="R40ebe0adeb9d4386" /><Relationship Type="http://schemas.openxmlformats.org/officeDocument/2006/relationships/slide" Target="/ppt/slides/slide5.xml" Id="R25fc88f871fc4118" /><Relationship Type="http://schemas.openxmlformats.org/officeDocument/2006/relationships/slide" Target="/ppt/slides/slide6.xml" Id="R947e39ebf07347ae" /><Relationship Type="http://schemas.openxmlformats.org/officeDocument/2006/relationships/slide" Target="/ppt/slides/slide7.xml" Id="R9da0b424e34d41d4" /><Relationship Type="http://schemas.openxmlformats.org/officeDocument/2006/relationships/slide" Target="/ppt/slides/slide8.xml" Id="R17e93c62eddc4c96" /><Relationship Type="http://schemas.openxmlformats.org/officeDocument/2006/relationships/slide" Target="/ppt/slides/slide9.xml" Id="Rf17ce4fc85d9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9e5d6bde0448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5a04676fa40f0" /><Relationship Type="http://schemas.openxmlformats.org/officeDocument/2006/relationships/notesMaster" Target="/ppt/notesMasters/notesMaster1.xml" Id="R1ad18353c19643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361c43de14356" /><Relationship Type="http://schemas.openxmlformats.org/officeDocument/2006/relationships/notesMaster" Target="/ppt/notesMasters/notesMaster1.xml" Id="Rbe1486e66cd348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4710fa1a844f22" /><Relationship Type="http://schemas.openxmlformats.org/officeDocument/2006/relationships/notesMaster" Target="/ppt/notesMasters/notesMaster1.xml" Id="R0d246b92cc0141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b937877be4f74" /><Relationship Type="http://schemas.openxmlformats.org/officeDocument/2006/relationships/notesMaster" Target="/ppt/notesMasters/notesMaster1.xml" Id="R975e75b16d45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b4c584a014f48" /><Relationship Type="http://schemas.openxmlformats.org/officeDocument/2006/relationships/notesMaster" Target="/ppt/notesMasters/notesMaster1.xml" Id="R0af54acf111b46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9507117d084db6" /><Relationship Type="http://schemas.openxmlformats.org/officeDocument/2006/relationships/notesMaster" Target="/ppt/notesMasters/notesMaster1.xml" Id="Recbfdba4c303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5f3d6c07cd4487" /><Relationship Type="http://schemas.openxmlformats.org/officeDocument/2006/relationships/notesMaster" Target="/ppt/notesMasters/notesMaster1.xml" Id="R7d4e75a22cd4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b8b5f980904c48" /><Relationship Type="http://schemas.openxmlformats.org/officeDocument/2006/relationships/notesMaster" Target="/ppt/notesMasters/notesMaster1.xml" Id="R9827d897d5f6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7964c3ed254d02" /><Relationship Type="http://schemas.openxmlformats.org/officeDocument/2006/relationships/notesMaster" Target="/ppt/notesMasters/notesMaster1.xml" Id="R692ab3844f09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0741f51564b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536ef8a486461c" /><Relationship Type="http://schemas.openxmlformats.org/officeDocument/2006/relationships/slideLayout" Target="/ppt/slideLayouts/slideLayout2.xml" Id="R018ce50f940843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ce50f940843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b41997d2e477e" /><Relationship Type="http://schemas.openxmlformats.org/officeDocument/2006/relationships/notesSlide" Target="/ppt/notesSlides/notesSlide1.xml" Id="R0d0c96a37b34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38fbc8ede4034" /><Relationship Type="http://schemas.openxmlformats.org/officeDocument/2006/relationships/notesSlide" Target="/ppt/notesSlides/notesSlide2.xml" Id="R50addd833ef5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a539042774dea" /><Relationship Type="http://schemas.openxmlformats.org/officeDocument/2006/relationships/notesSlide" Target="/ppt/notesSlides/notesSlide3.xml" Id="Rbeeccfbfae5241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920025eca4ea8" /><Relationship Type="http://schemas.openxmlformats.org/officeDocument/2006/relationships/notesSlide" Target="/ppt/notesSlides/notesSlide4.xml" Id="Rdc6e4f65a90d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f75ffc7d9549a0" /><Relationship Type="http://schemas.openxmlformats.org/officeDocument/2006/relationships/notesSlide" Target="/ppt/notesSlides/notesSlide5.xml" Id="Ra7bd3a418d9640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1de8bebd4401b" /><Relationship Type="http://schemas.openxmlformats.org/officeDocument/2006/relationships/notesSlide" Target="/ppt/notesSlides/notesSlide6.xml" Id="Rf287099e4148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39fd5ec274154" /><Relationship Type="http://schemas.openxmlformats.org/officeDocument/2006/relationships/notesSlide" Target="/ppt/notesSlides/notesSlide7.xml" Id="R343c4ea3c3f0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5c367a9dd45f6" /><Relationship Type="http://schemas.openxmlformats.org/officeDocument/2006/relationships/notesSlide" Target="/ppt/notesSlides/notesSlide8.xml" Id="R066589c5047949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bcc7e39f4846c1" /><Relationship Type="http://schemas.openxmlformats.org/officeDocument/2006/relationships/notesSlide" Target="/ppt/notesSlides/notesSlide9.xml" Id="Rcb4b7da6549641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BB550-B3CA-42DF-AA69-5493A3D3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8A524-C090-4CD6-BE9D-934D68D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6BB76-E9E9-4734-AE25-FB063248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B9821-6995-4828-9224-2E947651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833F3-22C5-48CD-8052-9A6D9D4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Revenue Agent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4CB21-BA83-48EC-9F15-D04501A2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リード獲得から着金までを、AIエージェントが安全に前へ進めるための構想とMVP到達点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C1BCC-3C33-4434-8B13-54E18BA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C568D-6E42-4938-855A-6D8E576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現在の正確な位置づけ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54710-9D3C-4A17-B83D-DDD2FEE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SEO営業に絞ったMVPの骨格は実装済み。次は外部APIを実際につないだE2E検証と限定運用。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4C2DA-F8B2-4B64-B44C-A5C619B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C2FB8-BCAE-4801-9683-2B7A13E7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19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5E70C-E56A-4B53-8CF5-5400966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38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探索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1996D-332F-4367-85D6-EFB179D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97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E4A2E-A443-4CEF-AC75-53448C27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5B900-63A0-403E-A3A5-EB24B098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Diagnose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A7372-3633-4079-9208-7903F4B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診断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61FF0-F13C-4072-B60A-8408B5FD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574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8B55D-9C45-4743-B983-563046A7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952A7-7D20-407D-ABF2-18190140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Propose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0F4302-0B64-4919-A845-0D5D568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提案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4B58A-2DEB-4152-AAD6-F113E91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051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465F9-ABE5-4865-9EE6-9777631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A0E6C-C3D6-4688-981D-1097C36D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E1AA3-3BEE-43D6-B33A-5E2B166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人間承認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9F397-E692-4056-A615-5C16570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528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DAF18-A6B4-45FA-93D1-2C3F9F93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72227-F7AB-4002-B23C-8DD9CC5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Charge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66900-628A-4454-B86F-418DBD6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決済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F940B-E27E-4EDA-B0CE-6FECAF26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00525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BD790-BFE9-4E88-98EF-1D26174B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BB59C-931E-470E-8FA6-53C522F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Learn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E1276-0AC7-4604-9F67-3077950A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学習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72646-43F1-49AC-B640-44AFC8F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4D0BDE-3C7F-4ED5-A6E6-66D0E176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収益導線上の主要ステップを実装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44F82C-A18E-41A6-8529-C8E2B881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AE7D-839D-42C7-8587-B08A3CA5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48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自動テストで制御ロジックを確認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AEF6E9-AB1C-401C-AF9A-BF8BD68D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101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9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99B2B"/>
                </a:solidFill>
                <a:latin typeface="Helvetica Neue"/>
                <a:ea typeface="Helvetica Neue"/>
                <a:cs typeface="Helvetica Neue"/>
              </a:rPr>
              <a:t>1-2w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B431E9-C924-40D4-BB04-15A18F6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48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実APIで1件E2E検証に進める目安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C424C8-5497-41D5-A5AD-234034B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7B0F8-38E3-46FD-81A6-A41093D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docs/revenue-agent-platform-report.md, src/, tests/</a:t>
            </a:r>
          </a:p>
        </p:txBody>
      </p:sp>
    </p:spTree>
    <p:extLst>
      <p:ext uri="{BB962C8B-B14F-4D97-AF65-F5344CB8AC3E}">
        <p14:creationId xmlns:p14="http://schemas.microsoft.com/office/powerpoint/2010/main" val="4811772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99C06-D2A1-4D3A-9420-E328523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86665-D8DF-49FD-B8F7-63DE511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C3AA3-125E-49A4-BB7F-11866454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5AB9D-9C8A-4204-99D3-3057D69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469F6-7EDF-4822-BFBE-D42A27D6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最初のMVPはSEO営業に絞るのが最も現実的。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6922F-F4E7-431A-8830-93398EB8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複数の自律収益ユースケースを検討したが、実APIで検証しやすく、規制・法務リスクを抑えやすい領域を優先。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9D3E-5262-46A3-A054-8D58DD48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ユースケース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678E7-2868-4DE8-BFAC-123BDB9E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収益性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6B88E-A642-406C-ACC4-B74E3DF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検証速度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0A2DC-621C-4CEF-A67D-D65F047A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規制/運用リスク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FB58C-56F3-4EAD-8E1D-4203871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2AB4C-F333-4BA9-8F75-7C70F558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962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AE671-2766-459B-8501-2A1128E4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705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SEO営業・改善提案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E8845-EB76-4BE4-B6B3-3AE027DC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4D2E7-0E48-4602-9657-A8FADE87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6C870-D0C0-4007-A4B2-FA79480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低〜中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142C7-59AC-405E-9012-8928713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MVP採用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D5087-894C-4A7E-A3BB-563D6EF4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962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B1DAE-EB1A-4067-AD88-E5C37BE0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705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人材紹介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B19DA-A26A-4D21-946F-FBD4332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1229C-7935-4076-A346-56DA96FF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0E9D8-24F3-443C-9545-3A45B7A1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622FF-D167-4E5D-9FCA-2EDB1B81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後続候補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FA38D-D573-440D-9B62-A9815D1D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962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415BB-C5C3-4FE7-AC6C-C415699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705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株自動売買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174E4-D7B1-4EBC-9DE0-D3FC9E0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E7EBBD-ED6F-4AB2-AB5C-B92BFF7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DB116-F044-431E-9066-BAACF1B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非常に高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9CAE2-FC84-49CB-8254-A7546A3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後回し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83C78-5FB9-448D-91C5-53BABFA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5B4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EC6A02-6701-4DD1-B202-D3110EBC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MVP判断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21F19-7C30-4AED-AB38-92A0F054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6255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ターゲット探索、診断、提案、アウトリーチ、決済までを短いループで検証できるため、Revenue Agent Platform の最初の実証対象としてSEO営業を採用。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56DACE-FE1A-427F-8DD8-70D563D7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37629-754A-4D47-A1B4-A11667E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docs/concepts/revenue-agent-platform.md, openspec/changes/archive/2026-04-24-seo-outreach-pipeline/design.md</a:t>
            </a:r>
          </a:p>
        </p:txBody>
      </p:sp>
    </p:spTree>
    <p:extLst>
      <p:ext uri="{BB962C8B-B14F-4D97-AF65-F5344CB8AC3E}">
        <p14:creationId xmlns:p14="http://schemas.microsoft.com/office/powerpoint/2010/main" val="1471042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4CCEA-26DB-4C01-B227-DC5DBD3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D1506-0FF1-4A6E-97AA-92593C0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C7C60-43B3-4FBC-9CD5-69D4611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39880-41AE-4EA8-A677-FC87E856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MVP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5F95C-F707-46C6-BD83-31CED2E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MVPの収益導線は、発見から支払いリンク送付まで一本につながった。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2032C-B478-4AAA-9C3E-9820C12D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ただし現時点では実サービス提供、契約、成果報酬請求は次フェーズ。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A09FF-5609-4968-8CE7-6E95CC72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36980-0B55-4DCF-99A9-E3F24E4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4A2B7-43A5-4B3E-9940-F5A02DE9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Crawl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6470D-C99A-4C31-B8E9-08DDAD3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Firecrawl + Lighthouse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低SEOスコアを抽出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36B0B-C46B-44A3-93AC-AD92A2FD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E0971-8444-4AD1-8A35-CEF45FA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82078-9A24-4BE9-B90F-364DAA8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E61DE-8C91-4513-AFAF-5A928B2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17E8B-4BDB-40AF-831A-395B183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29403-BB89-4217-AC2A-02DBAEEF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LLMでMarkdown提案書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PDF変換も試行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F4F0A-E1B7-450D-B65F-07AA43D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EC983-2F9D-4093-917D-47EEA948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5646-4E04-4B69-B63E-A797648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564AF-8DA5-440E-8721-6CD8B84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49B11-6A04-4B8F-99B8-5470F969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Outreach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63406-03F1-43D7-A6AF-FEEF997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SendGrid送信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重複・日次上限を制御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8E896-A621-431C-8542-3DA6B07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FC2D0-79FD-4767-8B99-E4902032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C2255-08EE-48E5-9E24-60D76FD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DF5F9A-CA7D-4104-9443-27B14EA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6A265-2093-448B-A726-084F6444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HIL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6BFC3-1F42-4685-BB13-3A689B9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Slack/URL承認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却下・保留を扱う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47ABA1-8B98-4D3B-8D6C-D05EDE1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1057C-1176-4A2B-BA86-8852F006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0C5F57-1CC1-4472-BFD1-3DC6731C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2E397-829C-4F1E-A7B2-E09525E4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CAFCEC-B15D-4EA9-A1E5-E3D351C0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Payment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4B350C-391F-4B45-B455-62B59FE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Stripe Payment Link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Webhookで着金検出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5B989F-3EDD-448A-92BE-537C6AF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051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ED308-31FC-48F6-9F56-AA25684C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5D4781-AD6C-45BC-91E8-19DA55F2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66950"/>
            <a:ext cx="1695450" cy="17526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8461DA-00E3-4A3D-8A95-FFAEB80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A63726-C56C-4E3F-ACF0-E2C7604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Execution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280BC0-A4F8-41C9-A418-2A0A028E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SEO改修・契約・成果報酬</a:t>
            </a:r>
          </a:p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次フェーズ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E2A67-98A2-4C27-8FC7-D69E9610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9029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2B4F68-E95A-4B2D-B937-7FD9564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実装済みの範囲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CA62E-2355-4B5B-960E-9FE3470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902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42647-18FD-492D-851D-518B858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2087E4-7639-46F9-9776-EA90819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Discovery -&gt; Payment Link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EEBBF9-794B-4366-ABA5-D0C227B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Delivery / Contract / Performance billing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FA152C-84F1-4FE5-B35A-890E04E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DCE4CF-ACAD-4014-A040-8C351AB1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src/pipeline/agent.ts, openspec/specs/*/spec.md</a:t>
            </a:r>
          </a:p>
        </p:txBody>
      </p:sp>
    </p:spTree>
    <p:extLst>
      <p:ext uri="{BB962C8B-B14F-4D97-AF65-F5344CB8AC3E}">
        <p14:creationId xmlns:p14="http://schemas.microsoft.com/office/powerpoint/2010/main" val="1379592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9EDD7C-AE88-4803-B370-F69AF05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E6367-78A7-4F09-B573-6D77E80E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422E-F72D-4D2F-86F0-7479518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3EDC1-F9FB-445D-8F5A-668F6A3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4CBF0-AE14-49EE-88AF-28B1281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実装は疎結合なモジュール群として分かれている。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CF192-22D7-4C14-AF31-5A617B7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OpenClaw/MCP連携を想定しつつ、現コードではまず順序制御を pipeline に集約。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DF806-2B51-4086-A859-A669433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1163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1B201-BC52-4FBE-944D-C73CF10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External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090BB-8288-40C0-85E3-1E3B795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1163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23299-6284-4C8D-B86F-ACCED99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Agent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9D8CE-DBF0-4B7B-9BD8-E0A95E7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E7478-65B7-49E4-9209-6E6D7EB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State &amp;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A4534-E07E-4921-876E-2B2C50D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566AD-C688-4B2D-8ACA-1793B659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Firecrawl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C869D-8966-483C-928D-91A203A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8DDCD-A880-4896-9908-8398B79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Lighthouse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BC46E-B651-4ED4-874D-6B55A2D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71442-E2B0-46F2-A827-409F2759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Gemini/Z.ai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7F7CD-601A-42B6-9F96-F6D5C34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1391A-949A-482F-9266-B3AB0069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SendGrid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E0788-4706-4C22-AE72-7911EF7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6905F-93FA-4A16-AB87-1FA51A1E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Slack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C021B-303B-4F77-8A2D-50C956E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479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6709F-3910-4BFA-B29F-EF30871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241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Stripe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68A59-B787-4757-B9CB-443DE03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752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A4F23-9076-4421-9F99-7640C30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site-crawler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2B5DB-2C06-426C-BC69-F0B72E7E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0"/>
            <a:ext cx="1752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727BC-B835-43AC-9730-145120E2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proposal-generator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56567-B6E4-4ADD-A17A-4A894C24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24250"/>
            <a:ext cx="1752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62D08-14F4-422A-A3D9-1590984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outreach-sender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A8358-E688-4251-8C81-5E2BC73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1752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24291-D69E-4F5C-AEA2-FA0EEF25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57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hil-approval-flow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F0C1C-7D9A-409F-9E32-4BDB2694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752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71F3F-743D-4212-95C9-9559D3A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stripe-payment-link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32886E-ABA6-46CE-8557-4944BB54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-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281E6-4A3D-4D60-93B8-2C0E1B3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B8CCC1-51D4-44B0-9175-8D0F43EB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0C47F-976A-422C-9473-E119B3AA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DC7700-EBF1-47D0-8866-43AF515D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52C13B-B9CA-49BB-BAF1-483914B8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SQLite: targets / outreach_log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6BEC44-40F8-4BF0-AF8B-FD48FF30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9C1E3-73D9-429B-AEA5-F32FDCC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pipeline/agent.ts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9577E-5DE6-4529-90F7-AEEB9769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1490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A09F24-5815-43EF-97A2-3C3B2071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Express: HIL + Stripe webhook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AB0C9A-F442-4AE7-AABF-90EB234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5B4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51F252-F602-486A-8530-180CB01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設計上のポイント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19E8F6-B34A-4FA4-825E-5D7B5C12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外部サービスはモジュール境界の外側に置き、失敗・承認・ステータス遷移を中央で扱える構造。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813B77-DBBD-4DC7-B3F3-92978D29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F7E798-EDAD-4764-81C2-8886C97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src/pipeline/agent.ts, src/utils/db.ts, src/server.ts</a:t>
            </a:r>
          </a:p>
        </p:txBody>
      </p:sp>
    </p:spTree>
    <p:extLst>
      <p:ext uri="{BB962C8B-B14F-4D97-AF65-F5344CB8AC3E}">
        <p14:creationId xmlns:p14="http://schemas.microsoft.com/office/powerpoint/2010/main" val="6321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80077-86D2-4CF7-8C3C-616F60A5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59DA6-79EF-488E-8A9F-4461928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E555A-D372-4A11-9591-B019F272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0A678-8A32-448A-8E3E-7E976F96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PROGRESS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896CB-76FE-4D05-A3AE-D99686E0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コア部品は揃ったが、運用に必要な周辺機能はまだ残る。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3AA2-EDC5-4562-8A66-AB4C426F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実装済み、テスト済み、次フェーズを分けて見ると現状が説明しやすい。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B69B8-F51A-49FB-9C01-AB49FBBC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6DF2F-DA77-42DA-85C1-F9D8FDD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サイト診断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6C62D-3DE6-4B28-BD1D-1671B70B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050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79014-BE5A-4116-8BFF-5ACB7CC8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Firecrawl + Lighthouse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BF5F1-511D-4BC2-B9B9-6A51A9E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7007E-3FA2-4A8C-BE4A-7F4418D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提案書生成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61D71-3A81-4338-A8AC-C026B34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1AA41-CC7D-44C5-92EF-3DCF770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LLM + Markdown/PDF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79552-7A80-4E6E-9324-B7E69E1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42970-7382-491E-9877-CA2E64B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アウトリーチ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EDE8E-DF3C-4056-98F3-FBA65314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050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3F70D-6577-4C17-9FBD-F34878E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SendGrid + 重複防止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EC2CB-11DF-458A-A8B6-92EA3A83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0089D-D1EE-4561-9C16-30CAA4CC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HIL承認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E1EEB-8FEF-448A-BB88-61F0563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04329-D436-4FB1-AA25-42E562D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Token + approve/reject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B4F9F-FA13-4DA5-A7E9-5CA3BBC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9EC0E-95EA-462B-9D15-64F183D7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決済リンク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E53C7-4D87-4B86-AC69-A9FC7345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C9E0D-58D3-49B0-9FA3-350966B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Stripe Payment Link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46C7E-9332-486F-ABAB-A6A1AF4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DEAD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A5745-4C83-4398-9038-EE6B5B84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返信監視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64922-8CEC-4794-8F94-2C47B74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718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rPr>
              <a:t>部分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0B80D-2652-4E7D-9113-6D1B1DD0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自動返信判定のみ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45DE4-C29F-4628-9705-168C633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7C851-A7F7-4E64-BFE0-5CC025A2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契約自動化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FBD3E-3BC3-4D10-9BB4-C2FBD8FE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38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未着手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64986D-CFCF-4654-8B4B-CC1CC9B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DocuSign等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79A16E-B4FA-4114-A954-3396CA5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AA10F0-0658-4C01-9A4D-8A16A95A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SEO改修実行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1D3B4F-EAB0-4557-B475-1C57867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未着手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74C9E6-2917-4592-A965-031FEE79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GitHub PR/CMS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F77E03-4DA2-4545-BC7F-E6EA515B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329E25-E41A-4B19-993B-CB56AB28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38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管理UI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650C05-62C2-46C6-A9A6-790DF3D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38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未着手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B02E34-0B5C-47BF-B45A-5DC6E03C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ステータス/ログ確認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A0562A-499C-456B-9337-ED8D34F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71D993-BD7C-4B31-B113-21515E3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実装済み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EDA87-957A-4C9E-9DA0-DB1B0AE3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906090-3FEE-477A-A827-4833002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57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部分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F2E79C-9165-46B5-8921-D53FA1FF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15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97D893-9249-4DDB-B77E-84B1CC4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578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未着手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CA1281-FC78-40DE-8682-5EEEA41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説明上は「MVPの骨格は完成、限定運用にはE2E・管理・法務運用が必要」と切り分ける。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24512E-8383-48C9-9C76-EAB31F44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4C8F5D-3C8A-4798-8D87-28A7E8DD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docs/revenue-agent-platform-report.md, openspec/changes/archive/*/tasks.md</a:t>
            </a:r>
          </a:p>
        </p:txBody>
      </p:sp>
    </p:spTree>
    <p:extLst>
      <p:ext uri="{BB962C8B-B14F-4D97-AF65-F5344CB8AC3E}">
        <p14:creationId xmlns:p14="http://schemas.microsoft.com/office/powerpoint/2010/main" val="18089009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9A536-EAF1-404F-BA95-EDC07F54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3A8E4-31FF-4661-A868-4BF1B8ED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5D4B4-7A21-4964-B055-6D14818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BAC4D-048E-406E-8051-F291232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B2538-E711-44EE-A4A6-E9FC9FA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テストは制御ロジックを確認済み。ただし実APIのE2Eは次の検証。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51053-4076-42E6-8A23-FFEB0E6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現在の検証はモック中心。実運用判断にはFirecrawl/SendGrid/Slack/Stripeをつなぐ通し確認が必要。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E323F-1364-4800-AC6B-7F2B063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9F3EB-59FD-4850-A192-63C15A06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テストファイル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E336C-A27B-415D-97CC-DC83904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336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328DC-23FB-4EF1-8A37-9D00C8F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自動テスト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7FA69-5D3E-41F3-A8B6-2C5FD54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793E5-B14C-4BC2-8018-BD7FCD34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失敗テスト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BA606-DC20-4D3F-8407-39FE6BB0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93BBF-6FF4-442C-A8B1-C68E53A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site-crawler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AEBD9-33AC-4709-BDF6-B5E260B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861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閾値抽出 / 失敗スキップ / 50件上限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D529B-0210-4B70-B22D-1A65C1F6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9090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F9EBB-4210-434F-B56D-1EC7449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proposal-generator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E77AC-8C8C-4FC3-B22F-99E1622C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必須セクションを含む提案書生成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6BE0B-186C-4DE7-B0BF-65B13B3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DE3B8-5B47-4082-8132-60F90F4F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llm-provider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17AB5-43BF-4EC8-A36E-304C43B3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529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Gemini成功 / 429 fallback / 非429 throw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DB8B2-E9F3-4446-9327-164FA923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5765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CFE7D-B4FF-443B-AC82-7DF7BB0A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outreach-sender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CE9AA-FE6C-4169-BA6D-8A9A7039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529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連絡先なし / 重複防止 / ログ記録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74277-8A5C-433E-AFE7-BE4959B4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0FB75-C2E2-45A7-87BE-111430D7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hil-approval-flow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3E0B0-AC76-45E3-8385-3F1E9E23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Token検証 / 承認 / 却下 / 自動返信判定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A80FB-CB3F-47F1-8578-0592499F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24400"/>
            <a:ext cx="457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84DFF-E326-47AE-8C81-BA1CC067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stripe-payment-link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F7E945-18E9-4F90-8B9D-EE9D6A19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96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Payment Link生成 / Webhook処理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2311B-0FE8-4CCF-B4E2-5321AB1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FED8E-5C5E-4BAE-8E40-5BBBF45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残る検証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72F26-59E7-43C5-A606-4D42A0A1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外部APIキー、送信ドメイン、Stripe webhook、Slack通知先を設定した1件E2E。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7B42A4-22FF-42F4-865D-CED4D9A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7954A-FD71-4EB6-8A70-5FE84B49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Verification: npm test passed, npm run build passed</a:t>
            </a:r>
          </a:p>
        </p:txBody>
      </p:sp>
    </p:spTree>
    <p:extLst>
      <p:ext uri="{BB962C8B-B14F-4D97-AF65-F5344CB8AC3E}">
        <p14:creationId xmlns:p14="http://schemas.microsoft.com/office/powerpoint/2010/main" val="1454335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DABF0E-BB49-4DB9-A824-DE0AEC20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589D3-6F4E-4C46-8DB0-7A6100CC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C1DE8-6425-446C-AF3F-4839C9CB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EA0DD-FA7D-42EA-8585-99C1BC5D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EDE7-75A2-4B6C-92E1-FD957FD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HILを入れることで、自律化のリスクを運用可能な範囲に抑える。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1BEE2-CB8A-4368-9A9C-43CF6FAB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営業送信や決済リンク送付は、完全自動ではなく人間承認でゲートする設計。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DD2B6-76FA-47B5-91A2-70D0B72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A29CB-41AC-4202-B8C8-02F04CE7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AI detects</a:t>
            </a:r>
          </a:p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interest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DEEEF-2667-4BBD-8413-045771DC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597B-6281-456B-AB39-BDF770E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DEAD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C14DB-D6CF-4C15-837D-6980323A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D419C-8B48-4D38-A63B-9C7F52C0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C624C-6E3A-4473-9B4A-78C3A674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F726C-85DB-459F-87F6-0ADC1AB7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Payment link</a:t>
            </a:r>
          </a:p>
          <a:p xmlns:a="http://schemas.openxmlformats.org/drawingml/2006/main">
            <a:pPr algn="l">
              <a:def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01F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7C293-CD6A-4B09-B071-5F694E0D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5B4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6B319-738A-410A-8C02-0E62BC69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承認URL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D1A3C-98C3-45B0-91DF-0B753F5C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token検証後に approved 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624C0-7B07-4372-B4D4-424F397A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053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5D4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EE96E-C6E4-4BDA-8004-435B1498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43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却下URL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9990B-F517-4F2F-B97D-9B1A7AA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rejected に更新して停止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8A2D7-F7F4-4AE9-9E6B-DA6C547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9B2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285CD-CF73-4D92-A6C3-303D481F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3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48時間滞留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6F224-0D7C-41E9-BB4C-B54BFCC4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on_hold に移行して再通知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DF07A-6CF6-4707-B43A-17163EA2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053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5B4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DF658-FBC1-4684-A261-B1118EE9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43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自動返信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9205E-7A2D-4142-81A6-2865C822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244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HILを起動せずスキップ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4BB3F-67B9-4F4E-B9C0-E359035E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00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9DEB7-C5A1-4357-ACDD-65211B3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設計思想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85ED8-3C14-4C9F-8EF6-46D18442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007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エージェントは前処理と候補生成を進め、人間は営業・請求・例外判断の最終ゲートを持つ。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68A20-35B2-4E53-81AF-6A05DC76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8FB683-B09D-4E94-BD91-C5BF9E04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src/hil-approval-flow/*, src/server.ts</a:t>
            </a:r>
          </a:p>
        </p:txBody>
      </p:sp>
    </p:spTree>
    <p:extLst>
      <p:ext uri="{BB962C8B-B14F-4D97-AF65-F5344CB8AC3E}">
        <p14:creationId xmlns:p14="http://schemas.microsoft.com/office/powerpoint/2010/main" val="4958947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EB7A7-76C9-42AD-B5E1-A84375E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A4F45-9E2B-4F95-94CE-E8CD575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98749-41E1-4586-BDD5-12078C8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8841A-FE71-46CC-9BCB-C2D2BAD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C356B-811E-43E9-866F-E0C338E6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次の1〜2か月で、プロトタイプから限定運用MVPへ進められる。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1BB7A-2722-4DDA-8CD1-17C8CF72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ロードマップは機能追加より先に、実APIでのE2Eと運用安全性を優先する。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656E8-351C-47F0-AB62-DFDD829B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301E-DD61-40B1-8B64-B9EF0F0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60C41-B4DE-4D9C-9CD9-01F746E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1〜2週間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E4A59-4EC0-4D06-BEC0-84E144F3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実API 1件E2E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3C3B4-1734-4825-88D8-F48D4637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C2C9B-8EBC-4A62-B0D7-F0AB1F7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APIキー設定、送信ドメイン、Stripe webhook、Slack通知をつないで1件通す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36BF7-8556-4E4B-AF74-04A2AB4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240D3-797E-41C2-8E16-33F70758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rPr>
              <a:t>3〜4週間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06283-E68A-4AD8-900B-16B30EF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限定運用MVP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C8019-031B-4708-A879-A8E9CB81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EAD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A934B-9A5F-46A8-8FBA-8C0CBF9E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1日10〜50件の抽出・送信、承認運用、提案品質改善、実決済小規模検証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A7D4B-02A4-470C-861D-D4AF062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7C2F3-1459-429B-A3AB-D8D3863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9B2B"/>
                </a:solidFill>
                <a:latin typeface="Hiragino Sans"/>
                <a:ea typeface="Hiragino Sans"/>
                <a:cs typeface="Hiragino Sans"/>
              </a:rPr>
              <a:t>1〜2か月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FC00D-1061-47EE-91B6-528E9748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実用MVP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A5004-BB8C-4D46-BD20-F4ACD50C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DEAD"/>
          </a:solidFill>
          <a:ln xmlns:a="http://schemas.openxmlformats.org/drawingml/2006/main" w="9525">
            <a:solidFill>
              <a:srgbClr val="D99B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74C6E-2132-4E13-8863-FAF0156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返信分類、決済後オンボーディング、PDF安定生成、監視と再実行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46886-3E9D-4967-94CD-44E81C3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AF923-1617-4C8C-A99F-B283E56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3か月以降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B7653-36AA-45D3-8A56-60F0F509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収益化拡張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91DA8-6C87-4CEC-90ED-D7E68C32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2095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C9BE"/>
          </a:solidFill>
          <a:ln xmlns:a="http://schemas.openxmlformats.org/drawingml/2006/main" w="9525">
            <a:solidFill>
              <a:srgbClr val="C85D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F93B3-AD92-49BC-830C-BA31F8F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SEO改修実行、契約自動化、成果報酬、他ドメイン展開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53AF3-5A07-4EB5-8555-B6B0BC8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09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2B0D2-AF04-45CF-9BA5-3633547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D5B4F"/>
                </a:solidFill>
                <a:latin typeface="Hiragino Sans"/>
                <a:ea typeface="Hiragino Sans"/>
                <a:cs typeface="Hiragino Sans"/>
              </a:rPr>
              <a:t>優先順位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3FB7E-05FB-4FB5-9640-BF838413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先に「通るか」「安全に運用できるか」を確かめ、その後に契約・実行・成果報酬へ広げる。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51012-7D07-4672-8113-EF942E7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6DB5E-726D-40E3-81B6-8917836F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Source: docs/revenue-agent-platform-report.md section 5</a:t>
            </a:r>
          </a:p>
        </p:txBody>
      </p:sp>
    </p:spTree>
    <p:extLst>
      <p:ext uri="{BB962C8B-B14F-4D97-AF65-F5344CB8AC3E}">
        <p14:creationId xmlns:p14="http://schemas.microsoft.com/office/powerpoint/2010/main" val="10929878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56447-AC10-4BE2-B064-0C6549EA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9E7AB-E884-41C4-B9AF-2A025D7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77937-4905-4EBC-87B8-D5B0A04B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23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55144-37B9-42DE-AC2F-350ADC4A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D5B4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909A3-B7AB-4EEB-B8B7-DAA86DD6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次の判断は、構想評価ではなく実API E2Eに進めるか。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C4966-B63F-47C7-8358-831932F7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説明時は「構想」ではなく「SEO営業MVP実装済み、限定運用前の検証段階」と言うのが正確。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2E2EE-34E6-4456-834F-5A7070B3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D5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E95AA-3564-4C1E-AA07-063D455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80E20-F144-445B-9CA8-739F426D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77E75-AD60-43E4-A21F-22D2E0FC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71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1件E2Eを通す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ED38D-49F7-4725-A1A5-21F47AF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433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Firecrawl / LLM / SendGrid / Slack / Stripe を実APIで接続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AE97A-4B00-4E70-8D10-A4908B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08738-6963-4123-A811-C26B4717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E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FC6C7-E8AC-4B36-B35F-E8EC668F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75859-698B-49B8-B2A1-D9CC9E3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90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営業運用の安全策を整える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B75A8-F85F-4462-BAF1-65A915C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433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送信ドメイン認証、オプトアウト、送信上限、ログ確認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9C7E6-E270-42D3-B966-28DDAC36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51BB9-4D0A-4260-AB0A-6FD8D11B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E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3A05C-CEE5-43E8-95B7-3BC1DA6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54907-E465-44D2-AC1B-EB1F7EA9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管理画面かCLIを追加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70ACD-3E4F-42BD-9D4D-2088EDC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433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ターゲット状態、承認待ち、失敗理由を見える化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BB685-8873-42E5-8577-2E3DA48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7810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1C2CD-5473-4D96-B522-8AE86A4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E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78F0C-5667-4356-83B7-E1626912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7DDB2-ACD5-4DBD-8308-DD2BDDA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返信監視を実装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F7691-C3B9-4951-A5E2-142C1026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433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B716D"/>
                </a:solidFill>
                <a:latin typeface="Hiragino Sans"/>
                <a:ea typeface="Hiragino Sans"/>
                <a:cs typeface="Hiragino Sans"/>
              </a:rPr>
              <a:t>ポジティブ返信分類からHILを起動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7C5F1-43A1-4519-9D06-5822F9C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095500" cy="2895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DBF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7B6BEF-3799-4A4D-8A61-60995C9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1619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8201F"/>
                </a:solidFill>
                <a:latin typeface="Hiragino Sans"/>
                <a:ea typeface="Hiragino Sans"/>
                <a:cs typeface="Hiragino Sans"/>
              </a:rPr>
              <a:t>MVPの骨格は実装済み。次は限定運用に入れるかを判断するため、まず1件の実API E2Eで詰まりを洗い出す。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45C17-060F-4F38-9739-68E9CF5B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8150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C85D4A"/>
                </a:solidFill>
                <a:latin typeface="Hiragino Sans"/>
                <a:ea typeface="Hiragino Sans"/>
                <a:cs typeface="Hiragino Sans"/>
              </a:rPr>
              <a:t>過大に言わない: 契約自動化、実作業、成果報酬は未実装。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AD450-1132-4F77-9213-88C8C2C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F64251-3CFA-47E7-AEFA-A69FBDF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B716D"/>
                </a:solidFill>
                <a:latin typeface="Helvetica Neue"/>
                <a:ea typeface="Helvetica Neue"/>
                <a:cs typeface="Helvetica Neue"/>
              </a:rPr>
              <a:t>Deliverable: editable PPTX + PDF</a:t>
            </a:r>
          </a:p>
        </p:txBody>
      </p:sp>
    </p:spTree>
    <p:extLst>
      <p:ext uri="{BB962C8B-B14F-4D97-AF65-F5344CB8AC3E}">
        <p14:creationId xmlns:p14="http://schemas.microsoft.com/office/powerpoint/2010/main" val="379840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2026-05-09T10:55:35.0140000Z</dcterms:created>
  <dcterms:modified xsi:type="dcterms:W3CDTF">2026-05-09T10:55:35.0140000Z</dcterms:modified>
</coreProperties>
</file>