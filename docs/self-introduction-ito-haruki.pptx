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>
      <p:cViewPr varScale="1">
        <p:scale>
          <a:sx n="119" d="100"/>
          <a:sy n="119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641A99E-5A3F-400A-9A35-CF4815ADD7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68411B-8D52-4DE8-8C21-1FB5BD9D983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410613-DB01-4C94-83A6-6A7A8322BC91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23850" cy="14288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D37977-2255-4364-A50B-62FC11A7F8F1}"/>
              </a:ext>
            </a:extLst>
          </p:cNvPr>
          <p:cNvSpPr>
            <a:spLocks noGrp="1"/>
          </p:cNvSpPr>
          <p:nvPr/>
        </p:nvSpPr>
        <p:spPr>
          <a:xfrm>
            <a:off x="13716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PROFILE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B99383-4069-4BB2-8420-42353F71913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457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伊藤 春樹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8F2599-6A46-48BB-9D98-FFD817FE1D11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Backend / Cloud / AI Application Engineer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7841CD-905A-4A08-B510-64CE826BAEF3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バックエンド開発を軸に、業務アプリケーションの設計・実装・テスト、AWSを活用したサーバーレス/クラウドネイティブ構成、AI活用アプリケーションの技術検証に取り組んでいます。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2B97CBB-F764-4EFE-B385-D408C7F062E7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DEC6A2-A24A-42A2-85E1-8EF85BA4F8A1}"/>
              </a:ext>
            </a:extLst>
          </p:cNvPr>
          <p:cNvSpPr>
            <a:spLocks noGrp="1"/>
          </p:cNvSpPr>
          <p:nvPr/>
        </p:nvSpPr>
        <p:spPr>
          <a:xfrm>
            <a:off x="857250" y="37433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生年月日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7562E65-7CBD-46C5-AFE1-5954835F1C35}"/>
              </a:ext>
            </a:extLst>
          </p:cNvPr>
          <p:cNvSpPr>
            <a:spLocks noGrp="1"/>
          </p:cNvSpPr>
          <p:nvPr/>
        </p:nvSpPr>
        <p:spPr>
          <a:xfrm>
            <a:off x="1885950" y="372427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1998/4/21（28歳）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E41A363B-7F6A-4CB5-98BA-2C9A3627D151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683B178-DE1C-467B-9056-B4144E568C7A}"/>
              </a:ext>
            </a:extLst>
          </p:cNvPr>
          <p:cNvSpPr>
            <a:spLocks noGrp="1"/>
          </p:cNvSpPr>
          <p:nvPr/>
        </p:nvSpPr>
        <p:spPr>
          <a:xfrm>
            <a:off x="857250" y="421957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出身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AF61925-CD34-4C26-9992-6C343BA1158D}"/>
              </a:ext>
            </a:extLst>
          </p:cNvPr>
          <p:cNvSpPr>
            <a:spLocks noGrp="1"/>
          </p:cNvSpPr>
          <p:nvPr/>
        </p:nvSpPr>
        <p:spPr>
          <a:xfrm>
            <a:off x="1885950" y="420052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岐阜県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787C3088-3989-4469-9FFC-79C98237EE78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8C68558-F510-4C39-9235-EB0006028E25}"/>
              </a:ext>
            </a:extLst>
          </p:cNvPr>
          <p:cNvSpPr>
            <a:spLocks noGrp="1"/>
          </p:cNvSpPr>
          <p:nvPr/>
        </p:nvSpPr>
        <p:spPr>
          <a:xfrm>
            <a:off x="857250" y="46958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現在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938FBE-3A8B-48F1-9F14-978CB5F3D294}"/>
              </a:ext>
            </a:extLst>
          </p:cNvPr>
          <p:cNvSpPr>
            <a:spLocks noGrp="1"/>
          </p:cNvSpPr>
          <p:nvPr/>
        </p:nvSpPr>
        <p:spPr>
          <a:xfrm>
            <a:off x="1885950" y="467677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東京都在住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6CC8A047-65DB-4C52-A582-FCA3BA10A673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A35756F-9C92-4027-BE66-993B8A9A51A6}"/>
              </a:ext>
            </a:extLst>
          </p:cNvPr>
          <p:cNvSpPr>
            <a:spLocks noGrp="1"/>
          </p:cNvSpPr>
          <p:nvPr/>
        </p:nvSpPr>
        <p:spPr>
          <a:xfrm>
            <a:off x="857250" y="517207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趣味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1C631B9-BB9C-490E-81B4-10C96231217C}"/>
              </a:ext>
            </a:extLst>
          </p:cNvPr>
          <p:cNvSpPr>
            <a:spLocks noGrp="1"/>
          </p:cNvSpPr>
          <p:nvPr/>
        </p:nvSpPr>
        <p:spPr>
          <a:xfrm>
            <a:off x="1885950" y="5153025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ゲーム・アニメ鑑賞</a:t>
            </a:r>
            <a:endParaRPr lang="en-US" sz="135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def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endParaRPr sz="1350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8E07DB9-1A0B-4291-AE9F-43FEA269971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371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34B7244-03F6-4990-A243-60499EFB82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1F63F8-8002-4B10-B11B-6CAD09B2074D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F3CB0D-1486-425F-BA46-1E18E8C31944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23850" cy="14288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763625-6751-49DD-A35B-CFD7E834AFC2}"/>
              </a:ext>
            </a:extLst>
          </p:cNvPr>
          <p:cNvSpPr>
            <a:spLocks noGrp="1"/>
          </p:cNvSpPr>
          <p:nvPr/>
        </p:nvSpPr>
        <p:spPr>
          <a:xfrm>
            <a:off x="13716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WORK STYLE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0A07D2E-59E2-41DA-891C-69FB1FF6CB09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7429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バックエンドを主軸に、設計から実装・テストまで一貫して担当</a:t>
            </a:r>
            <a:r>
              <a:rPr sz="2400" b="1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CFC039B9-83D7-48C2-8C41-2EE5DDA917BE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4667250" cy="990600"/>
          </a:xfrm>
          <a:prstGeom prst="roundRect">
            <a:avLst>
              <a:gd name="adj" fmla="val 7692"/>
            </a:avLst>
          </a:prstGeom>
          <a:solidFill>
            <a:srgbClr val="DDEDE5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F38136-0E2D-4941-9D07-D883A83F2BED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dirty="0" err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設計</a:t>
            </a:r>
            <a:endParaRPr sz="1650" b="1" dirty="0">
              <a:solidFill>
                <a:srgbClr val="1D5B4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9AFB04-6F0E-4AA8-A4DA-B33A591CFA05}"/>
              </a:ext>
            </a:extLst>
          </p:cNvPr>
          <p:cNvSpPr>
            <a:spLocks noGrp="1"/>
          </p:cNvSpPr>
          <p:nvPr/>
        </p:nvSpPr>
        <p:spPr>
          <a:xfrm>
            <a:off x="2266950" y="236220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要件整理、画面</a:t>
            </a:r>
            <a:r>
              <a:rPr sz="1200" b="0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/API/</a:t>
            </a: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DB設計、アーキテクチャ検討</a:t>
            </a:r>
            <a:endParaRPr sz="1200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212F5C81-5E9D-4AF4-94B7-EE4AF2FB3931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4667250" cy="990600"/>
          </a:xfrm>
          <a:prstGeom prst="roundRect">
            <a:avLst>
              <a:gd name="adj" fmla="val 7692"/>
            </a:avLst>
          </a:prstGeom>
          <a:solidFill>
            <a:srgbClr val="DCE8F2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8CABFC4-2A06-4BD0-9022-3D6AA2AC0E38}"/>
              </a:ext>
            </a:extLst>
          </p:cNvPr>
          <p:cNvSpPr>
            <a:spLocks noGrp="1"/>
          </p:cNvSpPr>
          <p:nvPr/>
        </p:nvSpPr>
        <p:spPr>
          <a:xfrm>
            <a:off x="6248400" y="250507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5C8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dirty="0" err="1">
                <a:solidFill>
                  <a:srgbClr val="335C81"/>
                </a:solidFill>
                <a:latin typeface="Hiragino Sans"/>
                <a:ea typeface="Hiragino Sans"/>
                <a:cs typeface="Hiragino Sans"/>
              </a:rPr>
              <a:t>実装</a:t>
            </a:r>
            <a:endParaRPr sz="1650" b="1" dirty="0">
              <a:solidFill>
                <a:srgbClr val="335C8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DE4CB36-71C5-43DE-BDB9-56D34D38CE83}"/>
              </a:ext>
            </a:extLst>
          </p:cNvPr>
          <p:cNvSpPr>
            <a:spLocks noGrp="1"/>
          </p:cNvSpPr>
          <p:nvPr/>
        </p:nvSpPr>
        <p:spPr>
          <a:xfrm>
            <a:off x="7600950" y="236220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Laravel、Python、TypeScriptを中心に業務ロジックを実装</a:t>
            </a:r>
            <a:endParaRPr sz="1200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513E86A4-D205-48DD-AF1B-8D508718C904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4667250" cy="990600"/>
          </a:xfrm>
          <a:prstGeom prst="roundRect">
            <a:avLst>
              <a:gd name="adj" fmla="val 7692"/>
            </a:avLst>
          </a:prstGeom>
          <a:solidFill>
            <a:srgbClr val="F4E1B6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2451A26-475A-40DD-BCC0-BFF71556824D}"/>
              </a:ext>
            </a:extLst>
          </p:cNvPr>
          <p:cNvSpPr>
            <a:spLocks noGrp="1"/>
          </p:cNvSpPr>
          <p:nvPr/>
        </p:nvSpPr>
        <p:spPr>
          <a:xfrm>
            <a:off x="914400" y="38957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dirty="0" err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クラウド</a:t>
            </a:r>
            <a:endParaRPr sz="1650" b="1" dirty="0">
              <a:solidFill>
                <a:srgbClr val="1D5B4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376E92-4461-48E2-9564-4186C368A5F0}"/>
              </a:ext>
            </a:extLst>
          </p:cNvPr>
          <p:cNvSpPr>
            <a:spLocks noGrp="1"/>
          </p:cNvSpPr>
          <p:nvPr/>
        </p:nvSpPr>
        <p:spPr>
          <a:xfrm>
            <a:off x="2266950" y="375285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AWSサーバーレス、EKS、SQS、Aurora</a:t>
            </a:r>
            <a:r>
              <a:rPr sz="1200" b="0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 </a:t>
            </a: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Serverlessなど</a:t>
            </a:r>
            <a:endParaRPr sz="1200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2E006721-6C69-4F4A-A2D2-C41E0DC21A92}"/>
              </a:ext>
            </a:extLst>
          </p:cNvPr>
          <p:cNvSpPr>
            <a:spLocks noGrp="1"/>
          </p:cNvSpPr>
          <p:nvPr/>
        </p:nvSpPr>
        <p:spPr>
          <a:xfrm>
            <a:off x="6038850" y="3581400"/>
            <a:ext cx="46672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2C5B4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EC1CA0E-0C3A-4A31-96D7-61F2E60FB110}"/>
              </a:ext>
            </a:extLst>
          </p:cNvPr>
          <p:cNvSpPr>
            <a:spLocks noGrp="1"/>
          </p:cNvSpPr>
          <p:nvPr/>
        </p:nvSpPr>
        <p:spPr>
          <a:xfrm>
            <a:off x="6248400" y="38957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dirty="0" err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AI活用</a:t>
            </a:r>
            <a:endParaRPr sz="1650" b="1" dirty="0">
              <a:solidFill>
                <a:srgbClr val="1D5B4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2D5593A-7CDF-4F27-80BA-6484581C187D}"/>
              </a:ext>
            </a:extLst>
          </p:cNvPr>
          <p:cNvSpPr>
            <a:spLocks noGrp="1"/>
          </p:cNvSpPr>
          <p:nvPr/>
        </p:nvSpPr>
        <p:spPr>
          <a:xfrm>
            <a:off x="7600950" y="375285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ChatGPT</a:t>
            </a:r>
            <a:r>
              <a:rPr sz="1200" b="0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 </a:t>
            </a: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API、外部AI</a:t>
            </a:r>
            <a:r>
              <a:rPr sz="1200" b="0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 </a:t>
            </a: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API、生成AI</a:t>
            </a:r>
            <a:r>
              <a:rPr sz="1200" b="0" dirty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/</a:t>
            </a:r>
            <a:r>
              <a:rPr sz="1200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エージェント検証</a:t>
            </a:r>
            <a:endParaRPr sz="1200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1082EBE-BA4A-4D8C-A793-9DE04AC76253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577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C7E4C82F-C443-42A2-943A-08362BF1FC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A6FDEC-55FD-462C-902D-6933E27FCA5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6A5FD70-16B1-4094-83C5-EB3B8D8AD0F5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23850" cy="14288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DDB5AE-BB1E-47E6-AEF3-1BB42319374D}"/>
              </a:ext>
            </a:extLst>
          </p:cNvPr>
          <p:cNvSpPr>
            <a:spLocks noGrp="1"/>
          </p:cNvSpPr>
          <p:nvPr/>
        </p:nvSpPr>
        <p:spPr>
          <a:xfrm>
            <a:off x="13716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SKILLS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D6F41A0-55A1-4D5F-BC02-80BF733AC476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7429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業務アプリからクラウド、AI連携まで幅広く対応。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780ECD2-2438-4087-97E4-4453DE84D9EB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952750" cy="1695450"/>
          </a:xfrm>
          <a:prstGeom prst="roundRect">
            <a:avLst>
              <a:gd name="adj" fmla="val 4494"/>
            </a:avLst>
          </a:prstGeom>
          <a:solidFill>
            <a:srgbClr val="DDEDE5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CDA30E-3685-486C-814E-41E5A0BB25FF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Languages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E7F787AC-1100-4AF8-A52E-B2B2EC7E6BCC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5C48F5A-29C0-4B9D-8630-2D99AB7FAC68}"/>
              </a:ext>
            </a:extLst>
          </p:cNvPr>
          <p:cNvSpPr>
            <a:spLocks noGrp="1"/>
          </p:cNvSpPr>
          <p:nvPr/>
        </p:nvSpPr>
        <p:spPr>
          <a:xfrm>
            <a:off x="971550" y="27908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EFD6222A-F1F4-4211-8D1E-6E69CE523607}"/>
              </a:ext>
            </a:extLst>
          </p:cNvPr>
          <p:cNvSpPr>
            <a:spLocks noGrp="1"/>
          </p:cNvSpPr>
          <p:nvPr/>
        </p:nvSpPr>
        <p:spPr>
          <a:xfrm>
            <a:off x="1562100" y="272415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BBD2459-435D-476B-88F4-A9928064A3AA}"/>
              </a:ext>
            </a:extLst>
          </p:cNvPr>
          <p:cNvSpPr>
            <a:spLocks noGrp="1"/>
          </p:cNvSpPr>
          <p:nvPr/>
        </p:nvSpPr>
        <p:spPr>
          <a:xfrm>
            <a:off x="1676400" y="27908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Java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410E3227-2F7E-4FB4-9B7A-B00D45D81506}"/>
              </a:ext>
            </a:extLst>
          </p:cNvPr>
          <p:cNvSpPr>
            <a:spLocks noGrp="1"/>
          </p:cNvSpPr>
          <p:nvPr/>
        </p:nvSpPr>
        <p:spPr>
          <a:xfrm>
            <a:off x="2266950" y="2724150"/>
            <a:ext cx="78105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75C1304-032C-4BAF-9384-4D4866604C34}"/>
              </a:ext>
            </a:extLst>
          </p:cNvPr>
          <p:cNvSpPr>
            <a:spLocks noGrp="1"/>
          </p:cNvSpPr>
          <p:nvPr/>
        </p:nvSpPr>
        <p:spPr>
          <a:xfrm>
            <a:off x="2381250" y="2790825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Python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60F60E71-B5E5-4CCC-B5C8-97B605DECBBF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9EDAF0D-7CFC-4973-A170-4803DFFDA9B9}"/>
              </a:ext>
            </a:extLst>
          </p:cNvPr>
          <p:cNvSpPr>
            <a:spLocks noGrp="1"/>
          </p:cNvSpPr>
          <p:nvPr/>
        </p:nvSpPr>
        <p:spPr>
          <a:xfrm>
            <a:off x="971550" y="31527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PHP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B2528A31-7C0A-4027-A677-AAACD6E5FBBE}"/>
              </a:ext>
            </a:extLst>
          </p:cNvPr>
          <p:cNvSpPr>
            <a:spLocks noGrp="1"/>
          </p:cNvSpPr>
          <p:nvPr/>
        </p:nvSpPr>
        <p:spPr>
          <a:xfrm>
            <a:off x="1562100" y="3086100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E22BC0E-01AE-48B1-A746-7BBCFA4E314D}"/>
              </a:ext>
            </a:extLst>
          </p:cNvPr>
          <p:cNvSpPr>
            <a:spLocks noGrp="1"/>
          </p:cNvSpPr>
          <p:nvPr/>
        </p:nvSpPr>
        <p:spPr>
          <a:xfrm>
            <a:off x="1676400" y="3152775"/>
            <a:ext cx="895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JavaScript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EAB198AC-A798-4D6A-9D64-ED9B8A711837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DF6778C-E791-4279-B5E3-7896458DB071}"/>
              </a:ext>
            </a:extLst>
          </p:cNvPr>
          <p:cNvSpPr>
            <a:spLocks noGrp="1"/>
          </p:cNvSpPr>
          <p:nvPr/>
        </p:nvSpPr>
        <p:spPr>
          <a:xfrm>
            <a:off x="971550" y="3514725"/>
            <a:ext cx="895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TypeScript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E729E763-B29C-4267-A753-9D21DD3F3078}"/>
              </a:ext>
            </a:extLst>
          </p:cNvPr>
          <p:cNvSpPr>
            <a:spLocks noGrp="1"/>
          </p:cNvSpPr>
          <p:nvPr/>
        </p:nvSpPr>
        <p:spPr>
          <a:xfrm>
            <a:off x="4210050" y="2190750"/>
            <a:ext cx="2952750" cy="1695450"/>
          </a:xfrm>
          <a:prstGeom prst="roundRect">
            <a:avLst>
              <a:gd name="adj" fmla="val 4494"/>
            </a:avLst>
          </a:prstGeom>
          <a:solidFill>
            <a:srgbClr val="DCE8F2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1D5BFF8-BAD4-4872-836C-BD7ED75FBE3E}"/>
              </a:ext>
            </a:extLst>
          </p:cNvPr>
          <p:cNvSpPr>
            <a:spLocks noGrp="1"/>
          </p:cNvSpPr>
          <p:nvPr/>
        </p:nvSpPr>
        <p:spPr>
          <a:xfrm>
            <a:off x="4381500" y="2343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35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35C81"/>
                </a:solidFill>
                <a:latin typeface="Helvetica Neue"/>
                <a:ea typeface="Helvetica Neue"/>
                <a:cs typeface="Helvetica Neue"/>
              </a:rPr>
              <a:t>Frameworks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060056DD-1ACD-49BD-A848-A50CD9A92085}"/>
              </a:ext>
            </a:extLst>
          </p:cNvPr>
          <p:cNvSpPr>
            <a:spLocks noGrp="1"/>
          </p:cNvSpPr>
          <p:nvPr/>
        </p:nvSpPr>
        <p:spPr>
          <a:xfrm>
            <a:off x="4381500" y="2724150"/>
            <a:ext cx="866775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2601746-4216-4547-BF82-1C675B777E65}"/>
              </a:ext>
            </a:extLst>
          </p:cNvPr>
          <p:cNvSpPr>
            <a:spLocks noGrp="1"/>
          </p:cNvSpPr>
          <p:nvPr/>
        </p:nvSpPr>
        <p:spPr>
          <a:xfrm>
            <a:off x="4495800" y="2790825"/>
            <a:ext cx="6381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Laravel</a:t>
            </a: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263CC9C4-BE6F-4DC3-BBFF-6614AB5FAF89}"/>
              </a:ext>
            </a:extLst>
          </p:cNvPr>
          <p:cNvSpPr>
            <a:spLocks noGrp="1"/>
          </p:cNvSpPr>
          <p:nvPr/>
        </p:nvSpPr>
        <p:spPr>
          <a:xfrm>
            <a:off x="5343525" y="2724150"/>
            <a:ext cx="781050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93DA57-CD74-402A-8D83-D050A4EE0B8E}"/>
              </a:ext>
            </a:extLst>
          </p:cNvPr>
          <p:cNvSpPr>
            <a:spLocks noGrp="1"/>
          </p:cNvSpPr>
          <p:nvPr/>
        </p:nvSpPr>
        <p:spPr>
          <a:xfrm>
            <a:off x="5457825" y="2790825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Vue.js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6A57989B-4663-4094-98BF-E055D09E4E1E}"/>
              </a:ext>
            </a:extLst>
          </p:cNvPr>
          <p:cNvSpPr>
            <a:spLocks noGrp="1"/>
          </p:cNvSpPr>
          <p:nvPr/>
        </p:nvSpPr>
        <p:spPr>
          <a:xfrm>
            <a:off x="6219825" y="2724150"/>
            <a:ext cx="695325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FAFF7C3-9375-40D5-9C34-368B2D2AB2AC}"/>
              </a:ext>
            </a:extLst>
          </p:cNvPr>
          <p:cNvSpPr>
            <a:spLocks noGrp="1"/>
          </p:cNvSpPr>
          <p:nvPr/>
        </p:nvSpPr>
        <p:spPr>
          <a:xfrm>
            <a:off x="6334125" y="2790825"/>
            <a:ext cx="466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React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24A5AE8B-3DD3-43A9-A503-192C71B09CB0}"/>
              </a:ext>
            </a:extLst>
          </p:cNvPr>
          <p:cNvSpPr>
            <a:spLocks noGrp="1"/>
          </p:cNvSpPr>
          <p:nvPr/>
        </p:nvSpPr>
        <p:spPr>
          <a:xfrm>
            <a:off x="4381500" y="3086100"/>
            <a:ext cx="866775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2BF1CEC-F836-4552-8C27-DD9B0E330575}"/>
              </a:ext>
            </a:extLst>
          </p:cNvPr>
          <p:cNvSpPr>
            <a:spLocks noGrp="1"/>
          </p:cNvSpPr>
          <p:nvPr/>
        </p:nvSpPr>
        <p:spPr>
          <a:xfrm>
            <a:off x="4495800" y="3152775"/>
            <a:ext cx="6381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Next.js</a:t>
            </a: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2F129954-516E-461E-BDE8-F2A249169328}"/>
              </a:ext>
            </a:extLst>
          </p:cNvPr>
          <p:cNvSpPr>
            <a:spLocks noGrp="1"/>
          </p:cNvSpPr>
          <p:nvPr/>
        </p:nvSpPr>
        <p:spPr>
          <a:xfrm>
            <a:off x="5343525" y="308610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BA2C03C-3062-47FA-90F3-5E5ECFD8A8E9}"/>
              </a:ext>
            </a:extLst>
          </p:cNvPr>
          <p:cNvSpPr>
            <a:spLocks noGrp="1"/>
          </p:cNvSpPr>
          <p:nvPr/>
        </p:nvSpPr>
        <p:spPr>
          <a:xfrm>
            <a:off x="5457825" y="31527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Hono</a:t>
            </a: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FEAEB427-6FA1-4516-A85C-074BCFCE9144}"/>
              </a:ext>
            </a:extLst>
          </p:cNvPr>
          <p:cNvSpPr>
            <a:spLocks noGrp="1"/>
          </p:cNvSpPr>
          <p:nvPr/>
        </p:nvSpPr>
        <p:spPr>
          <a:xfrm>
            <a:off x="7734300" y="2190750"/>
            <a:ext cx="2952750" cy="1695450"/>
          </a:xfrm>
          <a:prstGeom prst="roundRect">
            <a:avLst>
              <a:gd name="adj" fmla="val 4494"/>
            </a:avLst>
          </a:prstGeom>
          <a:solidFill>
            <a:srgbClr val="F4E1B6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009BECA-627A-4822-B5A0-60490C548F3E}"/>
              </a:ext>
            </a:extLst>
          </p:cNvPr>
          <p:cNvSpPr>
            <a:spLocks noGrp="1"/>
          </p:cNvSpPr>
          <p:nvPr/>
        </p:nvSpPr>
        <p:spPr>
          <a:xfrm>
            <a:off x="7905750" y="2343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9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9B2B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43F7AEBE-4622-4DB7-A085-D1EA45F93689}"/>
              </a:ext>
            </a:extLst>
          </p:cNvPr>
          <p:cNvSpPr>
            <a:spLocks noGrp="1"/>
          </p:cNvSpPr>
          <p:nvPr/>
        </p:nvSpPr>
        <p:spPr>
          <a:xfrm>
            <a:off x="7905750" y="2724150"/>
            <a:ext cx="695325" cy="323850"/>
          </a:xfrm>
          <a:prstGeom prst="roundRect">
            <a:avLst>
              <a:gd name="adj" fmla="val 23529"/>
            </a:avLst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74A703C-471B-4D86-A262-F8454EFAEFC5}"/>
              </a:ext>
            </a:extLst>
          </p:cNvPr>
          <p:cNvSpPr>
            <a:spLocks noGrp="1"/>
          </p:cNvSpPr>
          <p:nvPr/>
        </p:nvSpPr>
        <p:spPr>
          <a:xfrm>
            <a:off x="8020050" y="2790825"/>
            <a:ext cx="4667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MySQL</a:t>
            </a: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66166F15-98DB-409E-88E0-709CD96437A6}"/>
              </a:ext>
            </a:extLst>
          </p:cNvPr>
          <p:cNvSpPr>
            <a:spLocks noGrp="1"/>
          </p:cNvSpPr>
          <p:nvPr/>
        </p:nvSpPr>
        <p:spPr>
          <a:xfrm>
            <a:off x="8696325" y="2724150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8055350-8CE8-4C5C-A226-239200CCE18D}"/>
              </a:ext>
            </a:extLst>
          </p:cNvPr>
          <p:cNvSpPr>
            <a:spLocks noGrp="1"/>
          </p:cNvSpPr>
          <p:nvPr/>
        </p:nvSpPr>
        <p:spPr>
          <a:xfrm>
            <a:off x="8810625" y="2790825"/>
            <a:ext cx="895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PostgreSQL</a:t>
            </a:r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5BE716D3-0AB5-4E1E-86F2-CB440E77464D}"/>
              </a:ext>
            </a:extLst>
          </p:cNvPr>
          <p:cNvSpPr>
            <a:spLocks noGrp="1"/>
          </p:cNvSpPr>
          <p:nvPr/>
        </p:nvSpPr>
        <p:spPr>
          <a:xfrm>
            <a:off x="7905750" y="30861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643946D-8F70-4104-BD06-3CC2676A2199}"/>
              </a:ext>
            </a:extLst>
          </p:cNvPr>
          <p:cNvSpPr>
            <a:spLocks noGrp="1"/>
          </p:cNvSpPr>
          <p:nvPr/>
        </p:nvSpPr>
        <p:spPr>
          <a:xfrm>
            <a:off x="8020050" y="3152775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DynamoDB</a:t>
            </a:r>
          </a:p>
        </p:txBody>
      </p:sp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0777E498-A34D-4CC2-9017-194488260A47}"/>
              </a:ext>
            </a:extLst>
          </p:cNvPr>
          <p:cNvSpPr>
            <a:spLocks noGrp="1"/>
          </p:cNvSpPr>
          <p:nvPr/>
        </p:nvSpPr>
        <p:spPr>
          <a:xfrm>
            <a:off x="1314450" y="4305300"/>
            <a:ext cx="40957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F4F7F0D-6388-4C74-8BCA-FD22DF69E4B8}"/>
              </a:ext>
            </a:extLst>
          </p:cNvPr>
          <p:cNvSpPr>
            <a:spLocks noGrp="1"/>
          </p:cNvSpPr>
          <p:nvPr/>
        </p:nvSpPr>
        <p:spPr>
          <a:xfrm>
            <a:off x="1485900" y="4457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Cloud / Infra</a:t>
            </a:r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975E3E3C-4241-459F-A65E-D211A79E0A68}"/>
              </a:ext>
            </a:extLst>
          </p:cNvPr>
          <p:cNvSpPr>
            <a:spLocks noGrp="1"/>
          </p:cNvSpPr>
          <p:nvPr/>
        </p:nvSpPr>
        <p:spPr>
          <a:xfrm>
            <a:off x="1485900" y="483870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6660A69-A7DF-462F-8A51-7FD1A37C1329}"/>
              </a:ext>
            </a:extLst>
          </p:cNvPr>
          <p:cNvSpPr>
            <a:spLocks noGrp="1"/>
          </p:cNvSpPr>
          <p:nvPr/>
        </p:nvSpPr>
        <p:spPr>
          <a:xfrm>
            <a:off x="1600200" y="4905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AWS</a:t>
            </a:r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3C8A31F4-47BF-4E2E-88FD-8942AD564067}"/>
              </a:ext>
            </a:extLst>
          </p:cNvPr>
          <p:cNvSpPr>
            <a:spLocks noGrp="1"/>
          </p:cNvSpPr>
          <p:nvPr/>
        </p:nvSpPr>
        <p:spPr>
          <a:xfrm>
            <a:off x="2190750" y="4838700"/>
            <a:ext cx="78105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FEBF06F8-375A-46F6-85A3-9AE29A939590}"/>
              </a:ext>
            </a:extLst>
          </p:cNvPr>
          <p:cNvSpPr>
            <a:spLocks noGrp="1"/>
          </p:cNvSpPr>
          <p:nvPr/>
        </p:nvSpPr>
        <p:spPr>
          <a:xfrm>
            <a:off x="2305050" y="4905375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Docker</a:t>
            </a:r>
          </a:p>
        </p:txBody>
      </p: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0880C08D-E037-45D4-9DE4-292532E3FC7E}"/>
              </a:ext>
            </a:extLst>
          </p:cNvPr>
          <p:cNvSpPr>
            <a:spLocks noGrp="1"/>
          </p:cNvSpPr>
          <p:nvPr/>
        </p:nvSpPr>
        <p:spPr>
          <a:xfrm>
            <a:off x="3067050" y="4838700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990F7B0-2D6D-4F5D-8244-56BA8A50496C}"/>
              </a:ext>
            </a:extLst>
          </p:cNvPr>
          <p:cNvSpPr>
            <a:spLocks noGrp="1"/>
          </p:cNvSpPr>
          <p:nvPr/>
        </p:nvSpPr>
        <p:spPr>
          <a:xfrm>
            <a:off x="3181350" y="4905375"/>
            <a:ext cx="895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Kubernetes</a:t>
            </a:r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3E3F2C72-A133-4484-BABB-6CE8B914D35D}"/>
              </a:ext>
            </a:extLst>
          </p:cNvPr>
          <p:cNvSpPr>
            <a:spLocks noGrp="1"/>
          </p:cNvSpPr>
          <p:nvPr/>
        </p:nvSpPr>
        <p:spPr>
          <a:xfrm>
            <a:off x="4286250" y="483870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6D64B73-E211-4875-9250-96A365186E4B}"/>
              </a:ext>
            </a:extLst>
          </p:cNvPr>
          <p:cNvSpPr>
            <a:spLocks noGrp="1"/>
          </p:cNvSpPr>
          <p:nvPr/>
        </p:nvSpPr>
        <p:spPr>
          <a:xfrm>
            <a:off x="4400550" y="4905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EKS</a:t>
            </a: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ECE85DB7-4FFE-42C7-963A-D67AA0002D70}"/>
              </a:ext>
            </a:extLst>
          </p:cNvPr>
          <p:cNvSpPr>
            <a:spLocks noGrp="1"/>
          </p:cNvSpPr>
          <p:nvPr/>
        </p:nvSpPr>
        <p:spPr>
          <a:xfrm>
            <a:off x="1485900" y="5200650"/>
            <a:ext cx="6096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0276F9E-127C-4AF9-97FD-E40E821FED86}"/>
              </a:ext>
            </a:extLst>
          </p:cNvPr>
          <p:cNvSpPr>
            <a:spLocks noGrp="1"/>
          </p:cNvSpPr>
          <p:nvPr/>
        </p:nvSpPr>
        <p:spPr>
          <a:xfrm>
            <a:off x="1600200" y="52673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SQS</a:t>
            </a: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90AB757C-A822-4886-A111-611EEFB1AAFF}"/>
              </a:ext>
            </a:extLst>
          </p:cNvPr>
          <p:cNvSpPr>
            <a:spLocks noGrp="1"/>
          </p:cNvSpPr>
          <p:nvPr/>
        </p:nvSpPr>
        <p:spPr>
          <a:xfrm>
            <a:off x="2190750" y="5200650"/>
            <a:ext cx="15240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59121D75-2E0C-42EA-A38C-E5599D5E3897}"/>
              </a:ext>
            </a:extLst>
          </p:cNvPr>
          <p:cNvSpPr>
            <a:spLocks noGrp="1"/>
          </p:cNvSpPr>
          <p:nvPr/>
        </p:nvSpPr>
        <p:spPr>
          <a:xfrm>
            <a:off x="2305050" y="5267325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Aurora Serverless</a:t>
            </a:r>
          </a:p>
        </p:txBody>
      </p:sp>
      <p:sp>
        <p:nvSpPr>
          <p:cNvPr id="55" name="角丸四角形 54">
            <a:extLst>
              <a:ext uri="{FF2B5EF4-FFF2-40B4-BE49-F238E27FC236}">
                <a16:creationId xmlns:a16="http://schemas.microsoft.com/office/drawing/2014/main" id="{EBBC756E-F368-4266-A844-A6DE774239B7}"/>
              </a:ext>
            </a:extLst>
          </p:cNvPr>
          <p:cNvSpPr>
            <a:spLocks noGrp="1"/>
          </p:cNvSpPr>
          <p:nvPr/>
        </p:nvSpPr>
        <p:spPr>
          <a:xfrm>
            <a:off x="6172200" y="4305300"/>
            <a:ext cx="4095750" cy="1390650"/>
          </a:xfrm>
          <a:prstGeom prst="roundRect">
            <a:avLst>
              <a:gd name="adj" fmla="val 5479"/>
            </a:avLst>
          </a:prstGeom>
          <a:solidFill>
            <a:srgbClr val="F0C8BD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AA9E443-6080-422D-9837-178815988532}"/>
              </a:ext>
            </a:extLst>
          </p:cNvPr>
          <p:cNvSpPr>
            <a:spLocks noGrp="1"/>
          </p:cNvSpPr>
          <p:nvPr/>
        </p:nvSpPr>
        <p:spPr>
          <a:xfrm>
            <a:off x="6343650" y="4457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5D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5D4A"/>
                </a:solidFill>
                <a:latin typeface="Helvetica Neue"/>
                <a:ea typeface="Helvetica Neue"/>
                <a:cs typeface="Helvetica Neue"/>
              </a:rPr>
              <a:t>AI / Agent</a:t>
            </a: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BB19D6AC-6EBB-4285-89FC-8BAC39A1362C}"/>
              </a:ext>
            </a:extLst>
          </p:cNvPr>
          <p:cNvSpPr>
            <a:spLocks noGrp="1"/>
          </p:cNvSpPr>
          <p:nvPr/>
        </p:nvSpPr>
        <p:spPr>
          <a:xfrm>
            <a:off x="6343650" y="4838700"/>
            <a:ext cx="1209675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1120B7D-A80C-473B-8261-CF48A8125A27}"/>
              </a:ext>
            </a:extLst>
          </p:cNvPr>
          <p:cNvSpPr>
            <a:spLocks noGrp="1"/>
          </p:cNvSpPr>
          <p:nvPr/>
        </p:nvSpPr>
        <p:spPr>
          <a:xfrm>
            <a:off x="6457950" y="4905375"/>
            <a:ext cx="9810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ChatGPT API</a:t>
            </a:r>
          </a:p>
        </p:txBody>
      </p:sp>
      <p:sp>
        <p:nvSpPr>
          <p:cNvPr id="59" name="角丸四角形 58">
            <a:extLst>
              <a:ext uri="{FF2B5EF4-FFF2-40B4-BE49-F238E27FC236}">
                <a16:creationId xmlns:a16="http://schemas.microsoft.com/office/drawing/2014/main" id="{76A8C1C4-0380-43D3-AC05-C47D84DA118A}"/>
              </a:ext>
            </a:extLst>
          </p:cNvPr>
          <p:cNvSpPr>
            <a:spLocks noGrp="1"/>
          </p:cNvSpPr>
          <p:nvPr/>
        </p:nvSpPr>
        <p:spPr>
          <a:xfrm>
            <a:off x="7648575" y="4838700"/>
            <a:ext cx="1038225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C3FA359-4043-468B-8A77-E451F1E2F3D0}"/>
              </a:ext>
            </a:extLst>
          </p:cNvPr>
          <p:cNvSpPr>
            <a:spLocks noGrp="1"/>
          </p:cNvSpPr>
          <p:nvPr/>
        </p:nvSpPr>
        <p:spPr>
          <a:xfrm>
            <a:off x="7762875" y="4905375"/>
            <a:ext cx="809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LangGraph</a:t>
            </a:r>
          </a:p>
        </p:txBody>
      </p:sp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9072509F-1C7D-45FA-9D1B-4C57445386C3}"/>
              </a:ext>
            </a:extLst>
          </p:cNvPr>
          <p:cNvSpPr>
            <a:spLocks noGrp="1"/>
          </p:cNvSpPr>
          <p:nvPr/>
        </p:nvSpPr>
        <p:spPr>
          <a:xfrm>
            <a:off x="8782050" y="48387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EBB82F-87BF-4562-A0A7-4DCE1C19EB43}"/>
              </a:ext>
            </a:extLst>
          </p:cNvPr>
          <p:cNvSpPr>
            <a:spLocks noGrp="1"/>
          </p:cNvSpPr>
          <p:nvPr/>
        </p:nvSpPr>
        <p:spPr>
          <a:xfrm>
            <a:off x="8896350" y="4905375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OpenClaw</a:t>
            </a:r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8625EF99-B5C7-4972-858D-E341D3D555A6}"/>
              </a:ext>
            </a:extLst>
          </p:cNvPr>
          <p:cNvSpPr>
            <a:spLocks noGrp="1"/>
          </p:cNvSpPr>
          <p:nvPr/>
        </p:nvSpPr>
        <p:spPr>
          <a:xfrm>
            <a:off x="6343650" y="5200650"/>
            <a:ext cx="1209675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A281AE75-D0B1-4C29-AEEA-0D7AFDF3E1F8}"/>
              </a:ext>
            </a:extLst>
          </p:cNvPr>
          <p:cNvSpPr>
            <a:spLocks noGrp="1"/>
          </p:cNvSpPr>
          <p:nvPr/>
        </p:nvSpPr>
        <p:spPr>
          <a:xfrm>
            <a:off x="6457950" y="5267325"/>
            <a:ext cx="9810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Claude Code</a:t>
            </a:r>
          </a:p>
        </p:txBody>
      </p:sp>
      <p:sp>
        <p:nvSpPr>
          <p:cNvPr id="65" name="角丸四角形 64">
            <a:extLst>
              <a:ext uri="{FF2B5EF4-FFF2-40B4-BE49-F238E27FC236}">
                <a16:creationId xmlns:a16="http://schemas.microsoft.com/office/drawing/2014/main" id="{87E5AA25-6B1F-4411-BE4C-80B4A4577978}"/>
              </a:ext>
            </a:extLst>
          </p:cNvPr>
          <p:cNvSpPr>
            <a:spLocks noGrp="1"/>
          </p:cNvSpPr>
          <p:nvPr/>
        </p:nvSpPr>
        <p:spPr>
          <a:xfrm>
            <a:off x="7648575" y="520065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1FB6BE6-C19D-455C-842A-9D1966A386D1}"/>
              </a:ext>
            </a:extLst>
          </p:cNvPr>
          <p:cNvSpPr>
            <a:spLocks noGrp="1"/>
          </p:cNvSpPr>
          <p:nvPr/>
        </p:nvSpPr>
        <p:spPr>
          <a:xfrm>
            <a:off x="7762875" y="5267325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Telegram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117F6E2-2ED5-4A5D-820F-0A595C352740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983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20D4A3F-CFDA-497F-8C8D-02DC328F68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F2A25B-C930-4484-8805-AAF0104DCE7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CE1BE9-F76B-420A-8B0A-B3FDD58A1563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23850" cy="14288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7FFF814-9E2E-4330-90A2-30046CE178B8}"/>
              </a:ext>
            </a:extLst>
          </p:cNvPr>
          <p:cNvSpPr>
            <a:spLocks noGrp="1"/>
          </p:cNvSpPr>
          <p:nvPr/>
        </p:nvSpPr>
        <p:spPr>
          <a:xfrm>
            <a:off x="13716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PROJECTS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9D3BA76-1CC1-4FA3-9CB1-6E04EE1E879D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7429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AI活用・業務システム・クラウド領域で開発経験があります。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0D91671-75E7-466B-8A4E-229747017FCA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762500" cy="1447800"/>
          </a:xfrm>
          <a:prstGeom prst="roundRect">
            <a:avLst>
              <a:gd name="adj" fmla="val 5263"/>
            </a:avLst>
          </a:prstGeom>
          <a:solidFill>
            <a:srgbClr val="DDEDE5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F7D7AB3-FE4C-484E-8D01-58A27B8A193C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面接解析AIアプリ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B30ACC-753A-420E-8B34-3DB2B987F246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Next.js / AWS / ChatGPT API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3A13539-8BA9-4D26-B47F-F8E09DB9DACB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4076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面接動画の音声変換、文字起こし、話者分離、AI評価を行うサーバーレスアプリを開発</a:t>
            </a:r>
            <a:endParaRPr sz="1088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C05C33BA-88F2-402A-944C-90F249EBE7FB}"/>
              </a:ext>
            </a:extLst>
          </p:cNvPr>
          <p:cNvSpPr>
            <a:spLocks noGrp="1"/>
          </p:cNvSpPr>
          <p:nvPr/>
        </p:nvSpPr>
        <p:spPr>
          <a:xfrm>
            <a:off x="6038850" y="2095500"/>
            <a:ext cx="4762500" cy="1447800"/>
          </a:xfrm>
          <a:prstGeom prst="roundRect">
            <a:avLst>
              <a:gd name="adj" fmla="val 5263"/>
            </a:avLst>
          </a:prstGeom>
          <a:solidFill>
            <a:srgbClr val="DCE8F2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D26A60-FD92-493E-B372-1B623DB46639}"/>
              </a:ext>
            </a:extLst>
          </p:cNvPr>
          <p:cNvSpPr>
            <a:spLocks noGrp="1"/>
          </p:cNvSpPr>
          <p:nvPr/>
        </p:nvSpPr>
        <p:spPr>
          <a:xfrm>
            <a:off x="6248400" y="2247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35C81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575" b="1">
                <a:solidFill>
                  <a:srgbClr val="335C81"/>
                </a:solidFill>
                <a:latin typeface="Hiragino Sans"/>
                <a:ea typeface="Hiragino Sans"/>
                <a:cs typeface="Hiragino Sans"/>
              </a:rPr>
              <a:t>開発者用</a:t>
            </a:r>
            <a:r>
              <a:rPr lang="en-US" altLang="ja-JP" sz="1575" b="1" dirty="0">
                <a:solidFill>
                  <a:srgbClr val="335C81"/>
                </a:solidFill>
                <a:latin typeface="Hiragino Sans"/>
                <a:ea typeface="Hiragino Sans"/>
                <a:cs typeface="Hiragino Sans"/>
              </a:rPr>
              <a:t>DX</a:t>
            </a:r>
            <a:r>
              <a:rPr lang="ja-JP" altLang="en-US" sz="1575" b="1">
                <a:solidFill>
                  <a:srgbClr val="335C81"/>
                </a:solidFill>
                <a:latin typeface="Hiragino Sans"/>
                <a:ea typeface="Hiragino Sans"/>
                <a:cs typeface="Hiragino Sans"/>
              </a:rPr>
              <a:t>アプリケーション</a:t>
            </a:r>
            <a:endParaRPr sz="1575" b="1" dirty="0">
              <a:solidFill>
                <a:srgbClr val="335C8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757D106-0C94-4F7F-A0D1-6199E6E6A61E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AWS</a:t>
            </a:r>
            <a:r>
              <a:rPr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lang="en-US"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Kubernetes / terraform</a:t>
            </a:r>
            <a:r>
              <a:rPr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lang="en-US"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Helm</a:t>
            </a:r>
            <a:r>
              <a:rPr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lang="en-US" sz="938" b="1" dirty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React / </a:t>
            </a:r>
            <a:r>
              <a:rPr lang="en-US" sz="938" b="1" dirty="0" err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FastAPI</a:t>
            </a:r>
            <a:endParaRPr sz="938" b="1" dirty="0">
              <a:solidFill>
                <a:srgbClr val="6B716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36D569-A5FE-4339-8AB7-5F79AAC753AD}"/>
              </a:ext>
            </a:extLst>
          </p:cNvPr>
          <p:cNvSpPr>
            <a:spLocks noGrp="1"/>
          </p:cNvSpPr>
          <p:nvPr/>
        </p:nvSpPr>
        <p:spPr>
          <a:xfrm>
            <a:off x="6248400" y="2876550"/>
            <a:ext cx="4076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sz="108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メーカー開発者用社内アプリケーションを設計・開発</a:t>
            </a:r>
            <a:endParaRPr sz="1088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87CF08B8-6566-4C60-B2E7-BCA885CC083E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762500" cy="1447800"/>
          </a:xfrm>
          <a:prstGeom prst="roundRect">
            <a:avLst>
              <a:gd name="adj" fmla="val 5263"/>
            </a:avLst>
          </a:prstGeom>
          <a:solidFill>
            <a:srgbClr val="F4E1B6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9AF394B-33E7-4381-AC59-F0E732C042F6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rPr>
              <a:t>販売管理システム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6F3CB66-8055-455E-A037-6CA28316EF2C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Laravel / Vue.js / PostgreSQL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6C13AA4-3B57-4069-9607-721838BEFA61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4076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売上・請求・仕入・在庫などの管理機能を設計からテストまで担当</a:t>
            </a:r>
            <a:endParaRPr sz="1088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094F6885-AE85-4C5E-9369-4E8FD6448123}"/>
              </a:ext>
            </a:extLst>
          </p:cNvPr>
          <p:cNvSpPr>
            <a:spLocks noGrp="1"/>
          </p:cNvSpPr>
          <p:nvPr/>
        </p:nvSpPr>
        <p:spPr>
          <a:xfrm>
            <a:off x="6038850" y="3829050"/>
            <a:ext cx="4762500" cy="1447800"/>
          </a:xfrm>
          <a:prstGeom prst="roundRect">
            <a:avLst>
              <a:gd name="adj" fmla="val 5263"/>
            </a:avLst>
          </a:prstGeom>
          <a:solidFill>
            <a:srgbClr val="F0C8BD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7019A5A-0A9C-450A-AA47-1E23C77A26C7}"/>
              </a:ext>
            </a:extLst>
          </p:cNvPr>
          <p:cNvSpPr>
            <a:spLocks noGrp="1"/>
          </p:cNvSpPr>
          <p:nvPr/>
        </p:nvSpPr>
        <p:spPr>
          <a:xfrm>
            <a:off x="6248400" y="39814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自律型AIエージェント基盤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4E7D246-20F6-435B-B3FC-B55AC60C47F7}"/>
              </a:ext>
            </a:extLst>
          </p:cNvPr>
          <p:cNvSpPr>
            <a:spLocks noGrp="1"/>
          </p:cNvSpPr>
          <p:nvPr/>
        </p:nvSpPr>
        <p:spPr>
          <a:xfrm>
            <a:off x="6248400" y="430530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LangGraph / OpenClaw / Telegram / Claude Code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88504E7-0C8E-47C8-B1C0-C76BCF88CD3A}"/>
              </a:ext>
            </a:extLst>
          </p:cNvPr>
          <p:cNvSpPr>
            <a:spLocks noGrp="1"/>
          </p:cNvSpPr>
          <p:nvPr/>
        </p:nvSpPr>
        <p:spPr>
          <a:xfrm>
            <a:off x="6248400" y="4610100"/>
            <a:ext cx="4076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受注、ヒアリング、開発、納品、請求までを支援するエージェント基盤を検証</a:t>
            </a:r>
            <a:endParaRPr sz="1088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FA55230-B518-4D8B-9C12-3AA83D18152E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32DA262-6E0D-4226-804E-1A807C9477F1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docs/self-introduction.txt / Projects</a:t>
            </a:r>
          </a:p>
        </p:txBody>
      </p:sp>
    </p:spTree>
    <p:extLst>
      <p:ext uri="{BB962C8B-B14F-4D97-AF65-F5344CB8AC3E}">
        <p14:creationId xmlns:p14="http://schemas.microsoft.com/office/powerpoint/2010/main" val="204865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330A2F4-28E0-406F-8C77-AB1716CEC1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13A582-3496-4C23-B585-86E30F34CD40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78A5E48-9962-408C-8B22-7D8487C37A96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323850" cy="14288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1CE001-2E1F-4060-8913-6549EBDD37FF}"/>
              </a:ext>
            </a:extLst>
          </p:cNvPr>
          <p:cNvSpPr>
            <a:spLocks noGrp="1"/>
          </p:cNvSpPr>
          <p:nvPr/>
        </p:nvSpPr>
        <p:spPr>
          <a:xfrm>
            <a:off x="13716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ABOUT ME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C8C24B7-8391-48C6-8A35-D3762EFEE9AA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7429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新しい技術を、実際に動く形まで落とし込むのが好きです。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5F92D5E5-2F84-4E01-907A-40528D176A0E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47625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2C5B4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0AB5BB-CA9E-423C-BD23-6CA3D683CDD3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これから伸ばしたい方向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09749B6B-3197-4048-8AB6-5B46CDB13AD7}"/>
              </a:ext>
            </a:extLst>
          </p:cNvPr>
          <p:cNvSpPr>
            <a:spLocks noGrp="1"/>
          </p:cNvSpPr>
          <p:nvPr/>
        </p:nvSpPr>
        <p:spPr>
          <a:xfrm>
            <a:off x="1028700" y="3038475"/>
            <a:ext cx="76200" cy="76200"/>
          </a:xfrm>
          <a:prstGeom prst="ellipse">
            <a:avLst/>
          </a:prstGeom>
          <a:solidFill>
            <a:srgbClr val="1D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1B95F4-8A8F-4161-A44E-29293D91C0E9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3543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バックエンド・クラウド領域の設計力をさらに高める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2691E2D4-90C3-403B-813A-6818CD7FBB8A}"/>
              </a:ext>
            </a:extLst>
          </p:cNvPr>
          <p:cNvSpPr>
            <a:spLocks noGrp="1"/>
          </p:cNvSpPr>
          <p:nvPr/>
        </p:nvSpPr>
        <p:spPr>
          <a:xfrm>
            <a:off x="1028700" y="3533775"/>
            <a:ext cx="76200" cy="76200"/>
          </a:xfrm>
          <a:prstGeom prst="ellipse">
            <a:avLst/>
          </a:prstGeom>
          <a:solidFill>
            <a:srgbClr val="335C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18D776-B5A6-4748-9149-ADE99DDE7D66}"/>
              </a:ext>
            </a:extLst>
          </p:cNvPr>
          <p:cNvSpPr>
            <a:spLocks noGrp="1"/>
          </p:cNvSpPr>
          <p:nvPr/>
        </p:nvSpPr>
        <p:spPr>
          <a:xfrm>
            <a:off x="1200150" y="3467100"/>
            <a:ext cx="3543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 dirty="0" err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複雑な業務要件を、保守しやすいシステムに落とし込む</a:t>
            </a:r>
            <a:endParaRPr sz="1125" b="0" dirty="0">
              <a:solidFill>
                <a:srgbClr val="18201F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005DEA70-DC1A-4C1B-BFCF-5B6E75172DC9}"/>
              </a:ext>
            </a:extLst>
          </p:cNvPr>
          <p:cNvSpPr>
            <a:spLocks noGrp="1"/>
          </p:cNvSpPr>
          <p:nvPr/>
        </p:nvSpPr>
        <p:spPr>
          <a:xfrm>
            <a:off x="1028700" y="4029075"/>
            <a:ext cx="76200" cy="76200"/>
          </a:xfrm>
          <a:prstGeom prst="ellipse">
            <a:avLst/>
          </a:prstGeom>
          <a:solidFill>
            <a:srgbClr val="C85D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9A899A-92AD-43CC-94AF-5E5670ADEDDB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3543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生成AIやエージェント技術を業務価値につなげる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63190AE9-EF9E-453F-8784-30902FB32993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4095750" cy="2476500"/>
          </a:xfrm>
          <a:prstGeom prst="roundRect">
            <a:avLst>
              <a:gd name="adj" fmla="val 3077"/>
            </a:avLst>
          </a:prstGeom>
          <a:solidFill>
            <a:srgbClr val="DDEDE5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BA8058D-2E1E-42BC-A4A0-80A047A492B0}"/>
              </a:ext>
            </a:extLst>
          </p:cNvPr>
          <p:cNvSpPr>
            <a:spLocks noGrp="1"/>
          </p:cNvSpPr>
          <p:nvPr/>
        </p:nvSpPr>
        <p:spPr>
          <a:xfrm>
            <a:off x="6838950" y="2419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Personal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E4012FC9-5BDF-448F-8AF2-1DDF7C824CA4}"/>
              </a:ext>
            </a:extLst>
          </p:cNvPr>
          <p:cNvSpPr>
            <a:spLocks noGrp="1"/>
          </p:cNvSpPr>
          <p:nvPr/>
        </p:nvSpPr>
        <p:spPr>
          <a:xfrm>
            <a:off x="6838950" y="29527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C6E7276-222F-4F47-8F85-C7BE599DFF07}"/>
              </a:ext>
            </a:extLst>
          </p:cNvPr>
          <p:cNvSpPr>
            <a:spLocks noGrp="1"/>
          </p:cNvSpPr>
          <p:nvPr/>
        </p:nvSpPr>
        <p:spPr>
          <a:xfrm>
            <a:off x="6953250" y="30194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岐阜県出身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5E42E580-CBEE-41C1-8AE2-F2C676FFA191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335C81"/>
          </a:solidFill>
          <a:ln w="9525">
            <a:solidFill>
              <a:srgbClr val="335C81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1BEEDE6-7899-4CB8-9E52-9913CC8A91E2}"/>
              </a:ext>
            </a:extLst>
          </p:cNvPr>
          <p:cNvSpPr>
            <a:spLocks noGrp="1"/>
          </p:cNvSpPr>
          <p:nvPr/>
        </p:nvSpPr>
        <p:spPr>
          <a:xfrm>
            <a:off x="8572500" y="30194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東京都在住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F0BF1617-25A3-4527-99CA-131B56063956}"/>
              </a:ext>
            </a:extLst>
          </p:cNvPr>
          <p:cNvSpPr>
            <a:spLocks noGrp="1"/>
          </p:cNvSpPr>
          <p:nvPr/>
        </p:nvSpPr>
        <p:spPr>
          <a:xfrm>
            <a:off x="6838950" y="34480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D99B2B"/>
          </a:solidFill>
          <a:ln w="9525">
            <a:solidFill>
              <a:srgbClr val="D99B2B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2209EA6-7944-4C7E-A1D8-EB4B8BF8FBD9}"/>
              </a:ext>
            </a:extLst>
          </p:cNvPr>
          <p:cNvSpPr>
            <a:spLocks noGrp="1"/>
          </p:cNvSpPr>
          <p:nvPr/>
        </p:nvSpPr>
        <p:spPr>
          <a:xfrm>
            <a:off x="6953250" y="35147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ゲーム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3743F0A4-0E4A-4D99-8610-53A472A2AFA9}"/>
              </a:ext>
            </a:extLst>
          </p:cNvPr>
          <p:cNvSpPr>
            <a:spLocks noGrp="1"/>
          </p:cNvSpPr>
          <p:nvPr/>
        </p:nvSpPr>
        <p:spPr>
          <a:xfrm>
            <a:off x="8458200" y="3448050"/>
            <a:ext cx="1257300" cy="323850"/>
          </a:xfrm>
          <a:prstGeom prst="roundRect">
            <a:avLst>
              <a:gd name="adj" fmla="val 23529"/>
            </a:avLst>
          </a:prstGeom>
          <a:solidFill>
            <a:srgbClr val="C85D4A"/>
          </a:solidFill>
          <a:ln w="9525">
            <a:solidFill>
              <a:srgbClr val="C85D4A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D073D07-3AB1-491B-BC2F-34DDD8BFB9F3}"/>
              </a:ext>
            </a:extLst>
          </p:cNvPr>
          <p:cNvSpPr>
            <a:spLocks noGrp="1"/>
          </p:cNvSpPr>
          <p:nvPr/>
        </p:nvSpPr>
        <p:spPr>
          <a:xfrm>
            <a:off x="8572500" y="3514725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アニメ鑑賞</a:t>
            </a: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0A5C06F2-443A-4406-8A65-6E7924CD647D}"/>
              </a:ext>
            </a:extLst>
          </p:cNvPr>
          <p:cNvSpPr>
            <a:spLocks noGrp="1"/>
          </p:cNvSpPr>
          <p:nvPr/>
        </p:nvSpPr>
        <p:spPr>
          <a:xfrm>
            <a:off x="6838950" y="3943350"/>
            <a:ext cx="1638300" cy="323850"/>
          </a:xfrm>
          <a:prstGeom prst="roundRect">
            <a:avLst>
              <a:gd name="adj" fmla="val 23529"/>
            </a:avLst>
          </a:prstGeom>
          <a:solidFill>
            <a:srgbClr val="1D5B4F"/>
          </a:solidFill>
          <a:ln w="9525">
            <a:solidFill>
              <a:srgbClr val="1D5B4F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8ACFA19-7F4F-4631-AFED-7F9D179FEFA9}"/>
              </a:ext>
            </a:extLst>
          </p:cNvPr>
          <p:cNvSpPr>
            <a:spLocks noGrp="1"/>
          </p:cNvSpPr>
          <p:nvPr/>
        </p:nvSpPr>
        <p:spPr>
          <a:xfrm>
            <a:off x="6953250" y="4010025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サッカー経験あり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6317DF1-B68D-475F-9165-08A7B4B9211A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5334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よろしくお願いします。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147FDF8-7DE3-4A0C-9BBB-D3EA561CA73A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2C5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313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289</Words>
  <Application>Microsoft Macintosh PowerPoint</Application>
  <DocSecurity>0</DocSecurity>
  <PresentationFormat>ワイド画面</PresentationFormat>
  <Paragraphs>87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Hiragino Sans</vt:lpstr>
      <vt:lpstr>Calibri</vt:lpstr>
      <vt:lpstr>Helvetica Neue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伊藤 春樹</cp:lastModifiedBy>
  <cp:revision>2</cp:revision>
  <dcterms:created xsi:type="dcterms:W3CDTF">2026-05-09T12:09:29Z</dcterms:created>
  <dcterms:modified xsi:type="dcterms:W3CDTF">2026-05-09T12:19:33Z</dcterms:modified>
</cp:coreProperties>
</file>